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b9acd748c4ff4" /><Relationship Type="http://schemas.openxmlformats.org/officeDocument/2006/relationships/extended-properties" Target="/docProps/app.xml" Id="R20a2d846f0644649" /><Relationship Type="http://schemas.openxmlformats.org/officeDocument/2006/relationships/officeDocument" Target="/ppt/presentation.xml" Id="Rd98abed5654a4a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afa67c23ba40ea"/>
  </p:sldMasterIdLst>
  <p:notesMasterIdLst>
    <p:notesMasterId xmlns:r="http://schemas.openxmlformats.org/officeDocument/2006/relationships" r:id="R0e155c429d104be0"/>
  </p:notesMasterIdLst>
  <p:sldIdLst>
    <p:sldId xmlns:r="http://schemas.openxmlformats.org/officeDocument/2006/relationships" id="256" r:id="R541ff5284a804b95"/>
    <p:sldId xmlns:r="http://schemas.openxmlformats.org/officeDocument/2006/relationships" id="257" r:id="R8880a65e66884a0c"/>
    <p:sldId xmlns:r="http://schemas.openxmlformats.org/officeDocument/2006/relationships" id="258" r:id="Raf64017f62c047b1"/>
    <p:sldId xmlns:r="http://schemas.openxmlformats.org/officeDocument/2006/relationships" id="259" r:id="R7ca6463cde2a49b1"/>
    <p:sldId xmlns:r="http://schemas.openxmlformats.org/officeDocument/2006/relationships" id="260" r:id="R4e0c5ebfe5934609"/>
    <p:sldId xmlns:r="http://schemas.openxmlformats.org/officeDocument/2006/relationships" id="261" r:id="R55e8cc8e64594414"/>
    <p:sldId xmlns:r="http://schemas.openxmlformats.org/officeDocument/2006/relationships" id="262" r:id="R8089b6e91f6c4a9a"/>
    <p:sldId xmlns:r="http://schemas.openxmlformats.org/officeDocument/2006/relationships" id="263" r:id="R80d199d24070443e"/>
    <p:sldId xmlns:r="http://schemas.openxmlformats.org/officeDocument/2006/relationships" id="264" r:id="R704e0aeb989b48be"/>
    <p:sldId xmlns:r="http://schemas.openxmlformats.org/officeDocument/2006/relationships" id="265" r:id="R3361cf0aae2a4ddc"/>
    <p:sldId xmlns:r="http://schemas.openxmlformats.org/officeDocument/2006/relationships" id="266" r:id="Rd844160646dd44c1"/>
    <p:sldId xmlns:r="http://schemas.openxmlformats.org/officeDocument/2006/relationships" id="267" r:id="R27b96cde21e948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1f28a77d0d4a8c" /><Relationship Type="http://schemas.openxmlformats.org/officeDocument/2006/relationships/slideMaster" Target="/ppt/slideMasters/slideMaster1.xml" Id="R28afa67c23ba40ea" /><Relationship Type="http://schemas.openxmlformats.org/officeDocument/2006/relationships/notesMaster" Target="/ppt/notesMasters/notesMaster1.xml" Id="R0e155c429d104be0" /><Relationship Type="http://schemas.openxmlformats.org/officeDocument/2006/relationships/presProps" Target="/ppt/presProps.xml" Id="Rc92eaaae5be94661" /><Relationship Type="http://schemas.openxmlformats.org/officeDocument/2006/relationships/tableStyles" Target="/ppt/tableStyles.xml" Id="R41fa712d669448d8" /><Relationship Type="http://schemas.openxmlformats.org/officeDocument/2006/relationships/slide" Target="/ppt/slides/slide1.xml" Id="R541ff5284a804b95" /><Relationship Type="http://schemas.openxmlformats.org/officeDocument/2006/relationships/slide" Target="/ppt/slides/slide2.xml" Id="R8880a65e66884a0c" /><Relationship Type="http://schemas.openxmlformats.org/officeDocument/2006/relationships/slide" Target="/ppt/slides/slide3.xml" Id="Raf64017f62c047b1" /><Relationship Type="http://schemas.openxmlformats.org/officeDocument/2006/relationships/slide" Target="/ppt/slides/slide4.xml" Id="R7ca6463cde2a49b1" /><Relationship Type="http://schemas.openxmlformats.org/officeDocument/2006/relationships/slide" Target="/ppt/slides/slide5.xml" Id="R4e0c5ebfe5934609" /><Relationship Type="http://schemas.openxmlformats.org/officeDocument/2006/relationships/slide" Target="/ppt/slides/slide6.xml" Id="R55e8cc8e64594414" /><Relationship Type="http://schemas.openxmlformats.org/officeDocument/2006/relationships/slide" Target="/ppt/slides/slide7.xml" Id="R8089b6e91f6c4a9a" /><Relationship Type="http://schemas.openxmlformats.org/officeDocument/2006/relationships/slide" Target="/ppt/slides/slide8.xml" Id="R80d199d24070443e" /><Relationship Type="http://schemas.openxmlformats.org/officeDocument/2006/relationships/slide" Target="/ppt/slides/slide9.xml" Id="R704e0aeb989b48be" /><Relationship Type="http://schemas.openxmlformats.org/officeDocument/2006/relationships/slide" Target="/ppt/slides/slide10.xml" Id="R3361cf0aae2a4ddc" /><Relationship Type="http://schemas.openxmlformats.org/officeDocument/2006/relationships/slide" Target="/ppt/slides/slide11.xml" Id="Rd844160646dd44c1" /><Relationship Type="http://schemas.openxmlformats.org/officeDocument/2006/relationships/slide" Target="/ppt/slides/slide12.xml" Id="R27b96cde21e948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a4c77183ae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ec82a94074e90" /><Relationship Type="http://schemas.openxmlformats.org/officeDocument/2006/relationships/notesMaster" Target="/ppt/notesMasters/notesMaster1.xml" Id="R69761c3dac38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393a3a97942d9" /><Relationship Type="http://schemas.openxmlformats.org/officeDocument/2006/relationships/notesMaster" Target="/ppt/notesMasters/notesMaster1.xml" Id="Ra533019db1f2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e16232d910421c" /><Relationship Type="http://schemas.openxmlformats.org/officeDocument/2006/relationships/notesMaster" Target="/ppt/notesMasters/notesMaster1.xml" Id="Raccc53cb01144b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07de5ebf64299" /><Relationship Type="http://schemas.openxmlformats.org/officeDocument/2006/relationships/notesMaster" Target="/ppt/notesMasters/notesMaster1.xml" Id="R9feb16744dad46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748d8bba54350" /><Relationship Type="http://schemas.openxmlformats.org/officeDocument/2006/relationships/notesMaster" Target="/ppt/notesMasters/notesMaster1.xml" Id="R21642fa192c2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85c888555406e" /><Relationship Type="http://schemas.openxmlformats.org/officeDocument/2006/relationships/notesMaster" Target="/ppt/notesMasters/notesMaster1.xml" Id="Ra581cecaf7dc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e5a7eb1be14a23" /><Relationship Type="http://schemas.openxmlformats.org/officeDocument/2006/relationships/notesMaster" Target="/ppt/notesMasters/notesMaster1.xml" Id="R6b760b9425ce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717c7747c46a5" /><Relationship Type="http://schemas.openxmlformats.org/officeDocument/2006/relationships/notesMaster" Target="/ppt/notesMasters/notesMaster1.xml" Id="R5f74223a12f942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6afd0e565b46c4" /><Relationship Type="http://schemas.openxmlformats.org/officeDocument/2006/relationships/notesMaster" Target="/ppt/notesMasters/notesMaster1.xml" Id="R06a62e45257647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56ef522fcd4188" /><Relationship Type="http://schemas.openxmlformats.org/officeDocument/2006/relationships/notesMaster" Target="/ppt/notesMasters/notesMaster1.xml" Id="R0f185204d30b41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05d83df140428a" /><Relationship Type="http://schemas.openxmlformats.org/officeDocument/2006/relationships/notesMaster" Target="/ppt/notesMasters/notesMaster1.xml" Id="Rab53ae86f6c947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af4be903f94453" /><Relationship Type="http://schemas.openxmlformats.org/officeDocument/2006/relationships/notesMaster" Target="/ppt/notesMasters/notesMaster1.xml" Id="Rc85180eeb4cc45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institucional. A seção em inglês começa após os slides em português.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docs/source-of-truth.md; REVORY_ESCOPO_HIBRIDO.md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src/app/page.tsx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docs/REVORY_HYBRID_PRODUCT_AND_LAUNCH_ROADMAP.md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seis sinais correspondem aos itens publicados na landing atual; classificações dependem de dados e 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src/app/page.tsx; docs/source-of-truth.md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docs/REVORY_HYBRID_PRODUCT_AND_LAUNCH_ROADMAP.md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valores representam a hipótese comercial aprovada/documentada, não validação comprovada de disposição a pagar.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domain/revory/commercial-offers.ts; docs/source-of-truth.md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version of the Portuguese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docs/source-of-truth.md; REVORY_ESCOPO_HIBRIDO.md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src/app/page.tsx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docs/REVORY_HYBRID_PRODUCT_AND_LAUNCH_ROADMAP.md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six signals reflect the current landing-page claims; classification depends on available data and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src/app/page.tsx; docs/source-of-truth.md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docs/source-of-truth.md; REVORY_ESCOPO_HIBRIDO.md; docs/REVORY_HYBRID_PRODUCT_AND_LAUNCH_ROADMAP.md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reflect the documented commercial hypothesis, not proven willingness-to-pay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domain/revory/commercial-offers.ts; docs/source-of-truth.md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8f146b512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503e809df34756" /><Relationship Type="http://schemas.openxmlformats.org/officeDocument/2006/relationships/slideLayout" Target="/ppt/slideLayouts/slideLayout1.xml" Id="Rde4f974d3cf946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4f974d3cf946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887b56bf74d50" /><Relationship Type="http://schemas.openxmlformats.org/officeDocument/2006/relationships/image" Target="/ppt/media/image.png" Id="R17bac09e60444a11" /><Relationship Type="http://schemas.openxmlformats.org/officeDocument/2006/relationships/notesSlide" Target="/ppt/notesSlides/notesSlide1.xml" Id="R847a8562fdc94c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ebf197ac04f90" /><Relationship Type="http://schemas.openxmlformats.org/officeDocument/2006/relationships/notesSlide" Target="/ppt/notesSlides/notesSlide2.xml" Id="R0dccb0984f24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f51f7a3314438" /><Relationship Type="http://schemas.openxmlformats.org/officeDocument/2006/relationships/notesSlide" Target="/ppt/notesSlides/notesSlide3.xml" Id="R60c01f3d4487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d0831fcb547d1" /><Relationship Type="http://schemas.openxmlformats.org/officeDocument/2006/relationships/notesSlide" Target="/ppt/notesSlides/notesSlide4.xml" Id="R7c6eaeb1d8e3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a1860d4c045c7" /><Relationship Type="http://schemas.openxmlformats.org/officeDocument/2006/relationships/notesSlide" Target="/ppt/notesSlides/notesSlide5.xml" Id="R4cbd05b996c0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d97bf81a14342" /><Relationship Type="http://schemas.openxmlformats.org/officeDocument/2006/relationships/notesSlide" Target="/ppt/notesSlides/notesSlide6.xml" Id="Ra316e8da7520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261a9ce749d6" /><Relationship Type="http://schemas.openxmlformats.org/officeDocument/2006/relationships/image" Target="/ppt/media/image2.png" Id="Ra53eafc673184bad" /><Relationship Type="http://schemas.openxmlformats.org/officeDocument/2006/relationships/notesSlide" Target="/ppt/notesSlides/notesSlide7.xml" Id="R7076017b8180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97d349e334da9" /><Relationship Type="http://schemas.openxmlformats.org/officeDocument/2006/relationships/notesSlide" Target="/ppt/notesSlides/notesSlide8.xml" Id="R60f3724220b24a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81bb424524ae0" /><Relationship Type="http://schemas.openxmlformats.org/officeDocument/2006/relationships/notesSlide" Target="/ppt/notesSlides/notesSlide9.xml" Id="Rc73a731dd7cf48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ece86e204122" /><Relationship Type="http://schemas.openxmlformats.org/officeDocument/2006/relationships/notesSlide" Target="/ppt/notesSlides/notesSlide10.xml" Id="R7dd6436237b642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7a750b5e40f2" /><Relationship Type="http://schemas.openxmlformats.org/officeDocument/2006/relationships/notesSlide" Target="/ppt/notesSlides/notesSlide11.xml" Id="Ra8a8d72df26e41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b5aeb991d4b9e" /><Relationship Type="http://schemas.openxmlformats.org/officeDocument/2006/relationships/notesSlide" Target="/ppt/notesSlides/notesSlide12.xml" Id="Rd025a1e983f74a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ac09e60444a11"/>
          <a:stretch xmlns:a="http://schemas.openxmlformats.org/drawingml/2006/main"/>
        </p:blipFill>
        <p:spPr>
          <a:xfrm xmlns:a="http://schemas.openxmlformats.org/drawingml/2006/main">
            <a:off x="1232166" y="552450"/>
            <a:ext cx="583668" cy="533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70EE6-9CC8-4746-94CB-2D6F03E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2C545-4DFB-42D1-A96E-30ABA166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Inteligência para</a:t>
            </a:r>
          </a:p>
          <a:p xmlns:a="http://schemas.openxmlformats.org/drawingml/2006/main">
            <a:pPr algn="l">
              <a:def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recuperar receita esquecida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D2404-B5EA-4818-8537-81B9C48E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 que é o REVORY, como funciona e onde gera valor.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52625-E5E5-4650-AE9E-21B07E8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VISÃO GERAL DO PRODUTO  •  PORTUGUÊS +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0CE6A-B476-44E4-BE92-3D5EB87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53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REVORY</a:t>
            </a:r>
          </a:p>
        </p:txBody>
      </p:sp>
    </p:spTree>
    <p:extLst>
      <p:ext uri="{BB962C8B-B14F-4D97-AF65-F5344CB8AC3E}">
        <p14:creationId xmlns:p14="http://schemas.microsoft.com/office/powerpoint/2010/main" val="859317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72F6A-FDAC-4F65-B364-C5411DFE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2D03A-C385-448E-8681-EB71DC3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01 • 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B3F5-0B35-470F-92EC-B69BD9C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39F6C-151C-47EC-8611-7D4B5AF0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BB199-F328-4D0B-BBE7-1773993B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Encontre orçamentos que merecem atenção.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C9D80-DCA2-4354-AE60-B9F812E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 REVORY ajuda empresas de serviços de alto valor a revisar oportunidades de orçamento que podem estar esfriando.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3699-BAF3-48AF-8408-41C1A3A9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9B145-C492-4E06-9ADE-F28993A5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PARA QUEM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C3177-EB79-4133-B038-C0ADC48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Empreiteiros e prestadores de serviços de alto ticket — como reformas, roofing, HVAC premium e piscinas.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DB68D-A333-41B2-97F3-D5A08FC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41FB0-7C36-4F3D-BAAC-21B6C9E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PARA QUÊ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711C2-2346-4005-B0B7-1B454FF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Transformar exportações operacionais em uma fila de revisão priorizada, com sinais e evidências para orientar a próxima análise humana.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449A9-D9DD-4455-B4BF-9D631B2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Não é uma promessa de receita recuperada: é inteligência para decidir o que revisar primeiro.</a:t>
            </a:r>
          </a:p>
        </p:txBody>
      </p:sp>
    </p:spTree>
    <p:extLst>
      <p:ext uri="{BB962C8B-B14F-4D97-AF65-F5344CB8AC3E}">
        <p14:creationId xmlns:p14="http://schemas.microsoft.com/office/powerpoint/2010/main" val="1365402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C3306-128B-4BA5-B8BC-1F9F855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D9ACC-4044-4531-9491-09C12F7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02 • COMO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83C20-26F4-439C-8B80-540B5CFF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53C91-96A9-4E59-A037-968D540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15836-2D40-4BE7-9AB9-ABC54516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Dos arquivos à próxima revisão.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CDC8E-4B2A-427C-A790-8368F30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 fluxo combina regras determinísticas, qualidade dos dados e decisão explícita do usuário.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EC70B-356E-42D5-B685-D7E32D2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D608A-1840-4E7B-8F7E-41638295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91361-5B2B-4F1E-922D-32F3054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Importar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50BAA-BCA7-46B0-8FCD-F41BE14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Orçamentos em CSV/XLSX; atividades ajudam a dar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D5EB8-DFFA-4C41-81AF-03F7C731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7F61D-31EF-41DE-84D6-EE0465D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730F2-9D7A-42D7-B6AF-B36D1502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C8833-606D-4472-B0D2-61EFCFD9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Conferir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C15A5-87DB-4347-BCDC-65D0E7C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Mapeie colunas e revise alertas de qualidade dos dados.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9E46B-A0F9-48AE-BC45-10BFF69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E9E60-6D11-46BD-AB67-5B062B18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1A66D-1329-4771-8F39-33109460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4F43F-A829-435E-BAFA-8C353195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593EE-6E2F-4A0C-AA4E-7C695C7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Você valida a correspondência e inicia a análise.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B7A3D-158B-45A9-A8B2-6FDCCC67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13178-6CB5-405E-ADD3-729D32D0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3DBD0-38FA-45A4-B252-E2B73DC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17DFE-DCBC-409A-BA69-912C9CC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8F497-74F6-4474-B902-70CB15FB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2400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Revise sinais, evidências e a próxima ação sugerida.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5835F-E04E-4192-ABDA-98A38321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 IA é opcional e limitada; os dados não são vinculados silenciosamente por semelhança aproximada.</a:t>
            </a:r>
          </a:p>
        </p:txBody>
      </p:sp>
    </p:spTree>
    <p:extLst>
      <p:ext uri="{BB962C8B-B14F-4D97-AF65-F5344CB8AC3E}">
        <p14:creationId xmlns:p14="http://schemas.microsoft.com/office/powerpoint/2010/main" val="269985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A1E4E-4A11-4271-8F79-56F4D0A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9B8C9-9A13-4AD8-85A1-B1F3AC6F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03 • O QUE PROCURAR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D3FC-962D-459E-A97F-3A214ED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3B798-6DE4-496D-BF03-E17B5B5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F3A5-24D3-45B1-AE72-EE5525E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Sinais para investigar — não veredictos.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0E138-40BF-4E28-95E0-A9BCF53A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Cada item aponta uma situação operacional que pode merecer revisão. A evidência vem dos arquivos importados.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7F47E-2BE4-4855-8470-B09254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B14D8-606C-4706-9570-21BF269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Acompanhamento atrasado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EF28A-2BAF-4BF2-B811-52C9823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Orçamento sem acompanhamento dentro do prazo configurado.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A82E0-110D-4FB8-BE20-A8637A2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527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F33A5-B50E-4104-8D34-42EA18A6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Orçamento de alto valor parado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41F97-0B1A-4FEB-9CDD-C81E74E2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Oportunidade relevante sem atividade recente.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623E3-3445-41BD-8229-1149A9E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C9E75-2F27-4B59-B9ED-E4244FD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Aberto, sem atividade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35DB4-06DA-4446-AC43-D2E745B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Orçamento aberto que não mostra interação registrada.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31BF0-1129-4E58-B474-273D44E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B2A3C-5931-450F-91FB-A6B0B0B4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Risco de envelhecimento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F1BF-CB04-41D5-8196-6C72598B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862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Orçamento aberto há tempo suficiente para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2F921-D652-4370-826B-97D9EF5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C2F05-A410-4762-936B-6ACB5D6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Responsável ou próximo passo ausente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1346B-2B35-4042-9F60-1F9E61FF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Falta de um dado operacional para dar continuidade.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8774A-0B7D-45CC-8144-93C9E9CC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01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DCCBC-494D-436A-8744-8019F43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Possível perda a revisar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7B3B9-1CEF-45CC-8455-1BD3C7C4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14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Orçamento em condição conservadora de revisão como perdido.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88EEBF-4053-449E-8EF4-FE85F843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Valores em risco são estimativas baseadas nos dados disponíveis — nunca garantia de recuperação.</a:t>
            </a:r>
          </a:p>
        </p:txBody>
      </p:sp>
    </p:spTree>
    <p:extLst>
      <p:ext uri="{BB962C8B-B14F-4D97-AF65-F5344CB8AC3E}">
        <p14:creationId xmlns:p14="http://schemas.microsoft.com/office/powerpoint/2010/main" val="120263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520EE-F96C-49DF-A215-82B67891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BC847-1218-4A32-B682-1726E01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04 • USO RESPONSÁVEL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83BA4-8FE1-4B8C-B5FE-5466D48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75590-5DE5-477F-9A53-A755131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299AC-9676-40FF-B103-19F755D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Clareza sobre o que o REVORY é — e não 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10E1A-D069-4BEE-B11D-2F1BAD6F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HOJE: QUOTE 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9A3BB-BCD4-4792-9933-9FEEE1B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Revisão de orçamentos e atividade relacionada, priorização de sinais, evidências e apoio à decisão humana.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2CB83-E2D8-4485-B598-461AD937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90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05F20-35F4-494A-A649-FFB11B2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FORA DO ESCOPO COMERCIAL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CAF86-3A3A-4207-BB05-81C1ED9A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Não substitui CRM ou sistema de operação. Não envia follow-ups automaticamente nem promete dinheiro recuperado.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717CB-E8B1-44C6-9E57-EB73DBE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95E7B-04C3-4A4D-9168-65A86DAE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EM EVOLUÇÃO / AINDA NÃO OFERTAR COMO DISPONÍVEL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55FE2-7346-4559-A300-76287891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Revenue Realization — jobs, invoices, change orders, underbilling e margin — permanece sujeito aos gates de produto.</a:t>
            </a:r>
          </a:p>
        </p:txBody>
      </p:sp>
    </p:spTree>
    <p:extLst>
      <p:ext uri="{BB962C8B-B14F-4D97-AF65-F5344CB8AC3E}">
        <p14:creationId xmlns:p14="http://schemas.microsoft.com/office/powerpoint/2010/main" val="1128931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EB110-30F4-4663-93D0-E7E412CE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42A8C-C16E-4F37-8CC0-049288E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05 • FORMAS DE COMEÇAR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215DD-33A0-4C6C-829D-9A6DF58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VISÃO GERAL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DBF4C-2DFA-4B40-8665-9626AD56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7493C-E78D-4AAA-A742-A0A095A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Escolha o formato que combina com seu momento.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EF678-E5A8-406A-893C-73230C5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Preços públicos atuais em USD; opções independentes. Auditoria não inicia cobrança recorrente automaticamente.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D5F42-6EAB-4683-910F-41F9A174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203E1-8456-4F61-8533-D2EA3636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US$ 399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E11BB-04EB-4153-89E6-3DB0E564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pagamento único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A0066-F5B0-44CB-9104-112C5D85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CFC3-8200-4F3A-A014-C60EB425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Uma revisão pontual.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CE6D3-4729-4B50-865A-CB918676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A1B6B-3306-43E3-B929-C427B26F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US$ 399 / mês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49B4A-9584-4700-9726-1CB38ADA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assinatura mensal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7501D-E7AA-49CC-B9D2-6B5C5C33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F54E4-D687-4A53-98AB-ED151B5C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Acesso recorrente ao produto.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9340E-1806-456C-B47F-CD138EA8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1530A-99B6-49ED-96B9-95BB35BE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US$ 599 / mês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B407D-F760-4A01-87CD-4F128D9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assinatura mensal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B3E4A-5D83-4F3D-B460-3B6E2B9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9BA87-00D0-405E-9583-89D2B20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Mais capacidade para uso contínuo.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AA184-2F5C-4DE0-8201-A11C90CD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61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 auditoria é avulsa. Starter e Growth são assinaturas separadas; o caminho Audit → Starter → Growth é uma recomendação, não uma exigência.</a:t>
            </a:r>
          </a:p>
        </p:txBody>
      </p:sp>
    </p:spTree>
    <p:extLst>
      <p:ext uri="{BB962C8B-B14F-4D97-AF65-F5344CB8AC3E}">
        <p14:creationId xmlns:p14="http://schemas.microsoft.com/office/powerpoint/2010/main" val="1175191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eafc673184bad"/>
          <a:stretch xmlns:a="http://schemas.openxmlformats.org/drawingml/2006/main"/>
        </p:blipFill>
        <p:spPr>
          <a:xfrm xmlns:a="http://schemas.openxmlformats.org/drawingml/2006/main">
            <a:off x="1232166" y="552450"/>
            <a:ext cx="583668" cy="533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C4E79-DC29-4C54-8529-CD90BBD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146F-F4BD-4EF1-A944-F54D142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Intelligence to</a:t>
            </a:r>
          </a:p>
          <a:p xmlns:a="http://schemas.openxmlformats.org/drawingml/2006/main">
            <a:pPr algn="l">
              <a:def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recover overlooked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8579-2D96-4BA7-B937-0E05DDD8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What REVORY is, how it works, and where it creates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F0952-C86F-4794-9A88-5C7F7A2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PRODUCT OVERVIEW  •  PORTUGUÊS +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7B642-EE88-46CE-A835-E31B0B4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53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REVORY</a:t>
            </a:r>
          </a:p>
        </p:txBody>
      </p:sp>
    </p:spTree>
    <p:extLst>
      <p:ext uri="{BB962C8B-B14F-4D97-AF65-F5344CB8AC3E}">
        <p14:creationId xmlns:p14="http://schemas.microsoft.com/office/powerpoint/2010/main" val="212887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7DD02-CC43-4980-B475-60D82510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9866A-C46C-48BC-9618-7C7E264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01 •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A4CA-2508-4270-81CF-D744D56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77ABC-BE85-4556-AB5F-E9882049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838B9-3BAA-411D-91DF-FFEFB32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Find estimates that deserve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940AC-EF8C-4A17-B058-5B5A8993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helps high-ticket service businesses review estimate opportunities that may be going cold.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F48F4-B4A2-459C-892A-E8CA6137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10944-81EE-4A57-B069-6D03C8AE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FOR WHOM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CF3F2-E0C4-499D-B8CC-4EB9DF67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High-ticket contractors and service providers — such as remodeling, roofing, premium HVAC, and pool businesses.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6B1DA-187C-439F-9E2B-7C6C93CD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564E2-D73F-4880-9BB8-6C91050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FOR WHAT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72FC-E884-4151-BA62-B97A79C5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Turn operational exports into a prioritized review queue, with signals and evidence to guide the next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1FF2C-D287-4C75-8753-04E173C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Not a promise of recovered revenue: intelligence to help decide what to review first.</a:t>
            </a:r>
          </a:p>
        </p:txBody>
      </p:sp>
    </p:spTree>
    <p:extLst>
      <p:ext uri="{BB962C8B-B14F-4D97-AF65-F5344CB8AC3E}">
        <p14:creationId xmlns:p14="http://schemas.microsoft.com/office/powerpoint/2010/main" val="613807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71EDA-F853-432A-A059-F2D63D3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31E17-284F-4D66-B0E8-91025ECD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02 •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433C5-1A91-422B-8BE4-CE44511B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4A26D-9911-4ACF-9FC4-E33B3FCA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7F687-C7F4-4E3B-9CAE-B4AB55F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From files to the next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8BB08-5288-4133-A17D-75FAC25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The workflow combines deterministic rules, data quality checks, and explicit user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7D28C-44D7-48B1-8756-FB9E0726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9B4BE-AF17-4B3A-8A2A-4C40539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5F80A-5061-484C-9886-DFD1888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826D5-C76C-4D1D-AE39-B6C27826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Estimates in CSV/XLSX; activity files add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FB50C-C70D-4FC7-8EC6-0B6C9AE7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870D9-1E3E-49EC-89B3-2FF8C77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0B6DC-13F6-4B7D-B4CE-88D5663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148A3-B018-4E84-A2BD-276C6303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B50C0-59FC-4319-8E67-36EA20A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Map columns and check data-quality warnings.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893B6-57AB-47C8-A9AA-82817F9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61F61-027B-45AD-922F-183BBC06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9875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5081F-F5AF-4B11-8949-E49845CD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B50CE-BF51-44D1-883C-359D7C98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575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EE041-90F2-4378-91EA-7B1A5A4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Validate matching and start the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0F684-AF17-4133-844D-35EAE397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14FBB-0306-4C9A-B2C6-CB5C32A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E5B6A-DAAD-4DFA-A80B-BC20E78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4AD0C-5B4B-4E51-8E12-EFD7D9C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57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A342-4970-4C91-A383-9568B021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2400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Review signals, evidence, and the suggested next 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51284-C5AE-49B5-9BA0-BA7DDD85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AI is optional and bounded; records are never silently matched by approximate name or amount.</a:t>
            </a:r>
          </a:p>
        </p:txBody>
      </p:sp>
    </p:spTree>
    <p:extLst>
      <p:ext uri="{BB962C8B-B14F-4D97-AF65-F5344CB8AC3E}">
        <p14:creationId xmlns:p14="http://schemas.microsoft.com/office/powerpoint/2010/main" val="770279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CF662-AE02-4975-96C2-C9BF9FB2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C1B7-DB17-441C-B775-42F1AF6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03 • WHAT TO LOOK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2F7C4-F6EE-4E24-BFB2-E836D8B3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8D7EE-B07D-484D-86D2-7178D60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EB0FB-416A-4905-8B5C-764814D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Signals to investigate — not verdicts.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94B48-1B85-4197-AD49-52FE0B9A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Each item flags an operational situation that may deserve review. Evidence comes from imported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33E82-7DD9-4EC8-9FF9-352AC87B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B3A20-29B4-414D-8F6B-A32BE4D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Overdue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7851A-184D-46F5-895A-E3C0448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Estimate without follow-up within the configured timeframe.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EB236-F107-4D2C-BD65-F833D813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527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F72B4-3464-44BE-BF49-0AD5612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High-value stale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0D3DC-8267-44CB-9F3A-92C8B51A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 meaningful opportunity with no recent activity.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D19F-7F26-42AE-BBD2-F6B913E1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3B522-FADB-411A-B0EE-01B0952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Open, no activity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9CDC1-6D20-47F4-A478-F4828212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An open estimate with no recorded interaction.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60E55-DE99-4708-91DB-3DEB1D2B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773C4-191A-41DE-B9BD-D0AC692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Estimate aging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9DD48-41ED-4A59-9292-8EAAD7C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862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An open estimate old enough to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87479-427C-4D90-88A4-ED2BB0B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4E265-9ED7-428A-8663-1664334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Missing owner or next step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7DE15-61BC-42EB-A87C-B3962684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An operational detail needed to move forward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6DC0A-7617-4FDD-A81C-C8C3A2F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01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F3C02-BD38-4BCB-B09B-6AEC37C0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7202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Potential lost quote to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445C8-D582-4E83-BA69-0473A35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149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 conservatively flagged estimate for lost-status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2BA8B-E31F-43CE-AD97-FACA899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At-risk amounts are estimates based on available data — never a guarantee of recovery.</a:t>
            </a:r>
          </a:p>
        </p:txBody>
      </p:sp>
    </p:spTree>
    <p:extLst>
      <p:ext uri="{BB962C8B-B14F-4D97-AF65-F5344CB8AC3E}">
        <p14:creationId xmlns:p14="http://schemas.microsoft.com/office/powerpoint/2010/main" val="1600631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35E14-EC0E-417D-9D39-4D29386A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B6FB5-D2DA-4AA2-998D-60E77302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04 •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B82C4-84FF-46F6-AE0B-10CD7934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1F0E9-B379-446A-B087-D8DA593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07380-B780-486F-9B5D-8D71DB6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Clear about what REVORY is — and is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6B020-AA6E-4A6E-B802-AEEF1892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TODAY: QUOTE RECOVERY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92BD2-BCA2-4B7E-A776-59A771F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Review estimates and related activity, prioritize signals and evidence, and support human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3CBD9-6624-4A77-957E-A447577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90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53A07-B99A-4150-8E03-2DECEFE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OUTSIDE CURRENT COMMERCIAL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98A72-EF84-472D-B273-C84C8172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It does not replace a CRM or field-service system. It does not send follow-ups automatically or promise recovered money.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A89E6-FC21-48D2-92D9-8F92807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E02AF-6524-42A2-A398-2AB773E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IN DEVELOPMENT / NOT YET OFFER AS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E433E-DC1A-4059-8ABD-0DF97B0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Revenue Realization — jobs, invoices, change orders, underbilling, and margin — remains subject to product release gates.</a:t>
            </a:r>
          </a:p>
        </p:txBody>
      </p:sp>
    </p:spTree>
    <p:extLst>
      <p:ext uri="{BB962C8B-B14F-4D97-AF65-F5344CB8AC3E}">
        <p14:creationId xmlns:p14="http://schemas.microsoft.com/office/powerpoint/2010/main" val="623989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EBF59-4328-4AC7-A039-059D55B5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39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C0963-79DA-4AAE-AFFA-223CDE28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05 • WAYS TO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21DD0-9058-4C41-8161-A63C81B2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REVORY • 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75978-05C8-4C65-8B4D-1D294229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F1084-17FC-46F0-9E03-ADA79B9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3F4F2"/>
                </a:solidFill>
                <a:latin typeface="Georgia"/>
                <a:ea typeface="Georgia"/>
                <a:cs typeface="Georgia"/>
              </a:rPr>
              <a:t>Choose the format that fits your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B5E60-1028-4CDA-9F07-82F942CE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Current public prices in USD; independent options. An Audit does not automatically start recurring billing.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E2E8-B228-45C7-9623-943CCB4C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AC3C0-CA98-4762-BA0C-799FFA9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US$ 399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6473-2DF6-4EED-B4D4-4252C8D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one-time 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C24C6-ECD1-4407-9806-3764255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B54A8-27E3-49AD-8FAC-535E93A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 one-off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E6445-8768-47C6-B86A-5F949243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A5C0-6254-4897-9658-2471489F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US$ 399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7AA6C-D080-4E4B-A324-EE8A220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monthly subscription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2E53A-8D45-4EF6-A498-718563A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61536-E794-4B33-AA24-29C1C7C0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Recurring access to the product.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3DF2A-A3AB-4FF2-AF03-8163362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AF357-A0B9-4DE3-B1BA-D1F14BEF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0517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3F4F2"/>
                </a:solidFill>
                <a:latin typeface="Arial"/>
                <a:ea typeface="Arial"/>
                <a:cs typeface="Arial"/>
              </a:rPr>
              <a:t>US$ 599 / month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E221B-B709-4050-999D-F4FD1E1C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57625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3B39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3B39B"/>
                </a:solidFill>
                <a:latin typeface="Arial"/>
                <a:ea typeface="Arial"/>
                <a:cs typeface="Arial"/>
              </a:rPr>
              <a:t>monthly subscription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C1B4D-BA9A-49A8-8C8D-6B35111C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57033-118C-40ED-AFE4-E7FF455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958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More capacity for ongoing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22765-155D-4D00-99F9-E9A9280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61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9B0A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9B0AE"/>
                </a:solidFill>
                <a:latin typeface="Arial"/>
                <a:ea typeface="Arial"/>
                <a:cs typeface="Arial"/>
              </a:rPr>
              <a:t>Audit is one-time. Starter and Growth are separate subscriptions; Audit → Starter → Growth is a suggested path, not a requirement.</a:t>
            </a:r>
          </a:p>
        </p:txBody>
      </p:sp>
    </p:spTree>
    <p:extLst>
      <p:ext uri="{BB962C8B-B14F-4D97-AF65-F5344CB8AC3E}">
        <p14:creationId xmlns:p14="http://schemas.microsoft.com/office/powerpoint/2010/main" val="1680916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2026-09-22T18:50:41.4150000Z</dcterms:created>
  <dcterms:modified xsi:type="dcterms:W3CDTF">2026-09-22T18:50:41.4150000Z</dcterms:modified>
</coreProperties>
</file>